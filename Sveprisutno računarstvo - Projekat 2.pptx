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11"/>
  </p:notesMasterIdLst>
  <p:sldIdLst>
    <p:sldId id="256" r:id="rId2"/>
    <p:sldId id="259" r:id="rId3"/>
    <p:sldId id="260" r:id="rId4"/>
    <p:sldId id="265" r:id="rId5"/>
    <p:sldId id="261" r:id="rId6"/>
    <p:sldId id="266" r:id="rId7"/>
    <p:sldId id="263" r:id="rId8"/>
    <p:sldId id="267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 varScale="1">
        <p:scale>
          <a:sx n="80" d="100"/>
          <a:sy n="80" d="100"/>
        </p:scale>
        <p:origin x="52" y="17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8C81B9A-2622-471D-AFDB-EC8C272BAC5C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23659A9-2044-4656-BCC8-7507CFDDA9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81968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23659A9-2044-4656-BCC8-7507CFDDA9E7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74602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761999"/>
            <a:ext cx="9141619" cy="5334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9270263" y="761999"/>
            <a:ext cx="2925318" cy="5334001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69848" y="1298448"/>
            <a:ext cx="7315200" cy="3255264"/>
          </a:xfrm>
        </p:spPr>
        <p:txBody>
          <a:bodyPr anchor="b">
            <a:normAutofit/>
          </a:bodyPr>
          <a:lstStyle>
            <a:lvl1pPr algn="l">
              <a:defRPr sz="5900" spc="-100" baseline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15" y="4670246"/>
            <a:ext cx="7315200" cy="914400"/>
          </a:xfrm>
        </p:spPr>
        <p:txBody>
          <a:bodyPr anchor="t">
            <a:normAutofit/>
          </a:bodyPr>
          <a:lstStyle>
            <a:lvl1pPr marL="0" indent="0" algn="l">
              <a:buNone/>
              <a:defRPr sz="2200" cap="none" spc="0" baseline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5A836A-52F5-4CAE-91B9-5EE85764AC96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6B45C3-9F9F-46B1-803A-F66E029E50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18910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5A836A-52F5-4CAE-91B9-5EE85764AC96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6B45C3-9F9F-46B1-803A-F66E029E50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06073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67912" y="1298448"/>
            <a:ext cx="7315200" cy="3255264"/>
          </a:xfrm>
        </p:spPr>
        <p:txBody>
          <a:bodyPr anchor="b">
            <a:normAutofit/>
          </a:bodyPr>
          <a:lstStyle>
            <a:lvl1pPr>
              <a:defRPr sz="5900" b="0" spc="-1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86200" y="4672584"/>
            <a:ext cx="7315200" cy="914400"/>
          </a:xfrm>
        </p:spPr>
        <p:txBody>
          <a:bodyPr anchor="t">
            <a:normAutofit/>
          </a:bodyPr>
          <a:lstStyle>
            <a:lvl1pPr marL="0" indent="0">
              <a:buNone/>
              <a:defRPr sz="2200" cap="none" spc="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5A836A-52F5-4CAE-91B9-5EE85764AC96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6B45C3-9F9F-46B1-803A-F66E029E50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66853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867912" y="868680"/>
            <a:ext cx="347472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8120" y="868680"/>
            <a:ext cx="347472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5A836A-52F5-4CAE-91B9-5EE85764AC96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6B45C3-9F9F-46B1-803A-F66E029E50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24768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67912" y="1023586"/>
            <a:ext cx="3474720" cy="8077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67912" y="1930936"/>
            <a:ext cx="3474720" cy="402336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818463" y="1023586"/>
            <a:ext cx="3474720" cy="813171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818463" y="1930936"/>
            <a:ext cx="3474720" cy="402336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5A836A-52F5-4CAE-91B9-5EE85764AC96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11" name="Footer Placeholder 10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6B45C3-9F9F-46B1-803A-F66E029E50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08945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5A836A-52F5-4CAE-91B9-5EE85764AC96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6B45C3-9F9F-46B1-803A-F66E029E50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45107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5A836A-52F5-4CAE-91B9-5EE85764AC96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6B45C3-9F9F-46B1-803A-F66E029E50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58063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6032" y="1143000"/>
            <a:ext cx="2834640" cy="2377440"/>
          </a:xfrm>
        </p:spPr>
        <p:txBody>
          <a:bodyPr anchor="b">
            <a:normAutofit/>
          </a:bodyPr>
          <a:lstStyle>
            <a:lvl1pPr>
              <a:defRPr sz="3200" b="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67912" y="868680"/>
            <a:ext cx="731520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6032" y="3494176"/>
            <a:ext cx="2834640" cy="2321990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5A836A-52F5-4CAE-91B9-5EE85764AC96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6B45C3-9F9F-46B1-803A-F66E029E50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3638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6032" y="1143000"/>
            <a:ext cx="2834640" cy="2377440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570644" y="767419"/>
            <a:ext cx="8115230" cy="5330952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6032" y="3493008"/>
            <a:ext cx="2834640" cy="2322576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5A836A-52F5-4CAE-91B9-5EE85764AC96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3499101" y="6356350"/>
            <a:ext cx="5911517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6B45C3-9F9F-46B1-803A-F66E029E50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03630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5A836A-52F5-4CAE-91B9-5EE85764AC96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6B45C3-9F9F-46B1-803A-F66E029E50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54126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81000" y="990600"/>
            <a:ext cx="2819400" cy="49530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867912" y="868680"/>
            <a:ext cx="7315200" cy="512064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5A836A-52F5-4CAE-91B9-5EE85764AC96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6B45C3-9F9F-46B1-803A-F66E029E50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51244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758952"/>
            <a:ext cx="3443590" cy="533095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8" name="Rectangle 37"/>
          <p:cNvSpPr/>
          <p:nvPr/>
        </p:nvSpPr>
        <p:spPr>
          <a:xfrm>
            <a:off x="11815864" y="758952"/>
            <a:ext cx="384048" cy="5330952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69268" y="864108"/>
            <a:ext cx="7315200" cy="51206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62465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DB5A836A-52F5-4CAE-91B9-5EE85764AC96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869268" y="6356350"/>
            <a:ext cx="59115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34135" y="6356350"/>
            <a:ext cx="15309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accent1"/>
                </a:solidFill>
              </a:defRPr>
            </a:lvl1pPr>
          </a:lstStyle>
          <a:p>
            <a:fld id="{ED6B45C3-9F9F-46B1-803A-F66E029E50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10449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spc="-60" baseline="0">
          <a:solidFill>
            <a:srgbClr val="FFFFFF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/>
        </a:buClr>
        <a:buFont typeface="Wingdings 2" pitchFamily="18" charset="2"/>
        <a:buChar char="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11430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6002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20574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90731E-23E0-AEB7-52BD-BD5699AA0DA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Sveprisutno</a:t>
            </a:r>
            <a:r>
              <a:rPr lang="en-US" dirty="0"/>
              <a:t> </a:t>
            </a:r>
            <a:r>
              <a:rPr lang="en-US" dirty="0" err="1"/>
              <a:t>ra</a:t>
            </a:r>
            <a:r>
              <a:rPr lang="sr-Latn-RS" dirty="0" err="1"/>
              <a:t>čunarstvo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AE3DE19-2AAC-0B88-FBA0-3CE77E99E30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sr-Latn-RS" dirty="0"/>
              <a:t>Student: Anja Tonsa Milovanović, br. indeksa 1815</a:t>
            </a:r>
          </a:p>
          <a:p>
            <a:r>
              <a:rPr lang="sr-Latn-RS" dirty="0"/>
              <a:t>Mentor: prof. dr Dragan Stojanović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33200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3EAD356-7F4E-5946-1BAF-570077AB4DF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sr-Latn-RS" dirty="0"/>
              <a:t>Projekat </a:t>
            </a:r>
            <a:r>
              <a:rPr lang="en-US" dirty="0"/>
              <a:t>2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9B6F85F8-CEBC-E55D-EF7B-0B90422447A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IoT </a:t>
            </a:r>
            <a:r>
              <a:rPr lang="en-US" dirty="0" err="1"/>
              <a:t>aplikacija</a:t>
            </a:r>
            <a:r>
              <a:rPr lang="en-US" dirty="0"/>
              <a:t> za </a:t>
            </a:r>
            <a:r>
              <a:rPr lang="en-US" dirty="0" err="1"/>
              <a:t>glasovno</a:t>
            </a:r>
            <a:r>
              <a:rPr lang="en-US" dirty="0"/>
              <a:t> </a:t>
            </a:r>
            <a:r>
              <a:rPr lang="en-US" dirty="0" err="1"/>
              <a:t>upravljanje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ML </a:t>
            </a:r>
            <a:r>
              <a:rPr lang="en-US" dirty="0" err="1"/>
              <a:t>detekciju</a:t>
            </a:r>
            <a:r>
              <a:rPr lang="en-US" dirty="0"/>
              <a:t> </a:t>
            </a:r>
            <a:r>
              <a:rPr lang="en-US" dirty="0" err="1"/>
              <a:t>događaja</a:t>
            </a:r>
            <a:r>
              <a:rPr lang="en-US" dirty="0"/>
              <a:t> </a:t>
            </a:r>
            <a:r>
              <a:rPr lang="en-US" dirty="0" err="1"/>
              <a:t>pomoću</a:t>
            </a:r>
            <a:r>
              <a:rPr lang="en-US" dirty="0"/>
              <a:t> Arduino Nano 33 BLE Sense Lite </a:t>
            </a:r>
            <a:r>
              <a:rPr lang="en-US" dirty="0" err="1"/>
              <a:t>i</a:t>
            </a:r>
            <a:r>
              <a:rPr lang="en-US" dirty="0"/>
              <a:t> Raspberry Pie 4</a:t>
            </a:r>
          </a:p>
        </p:txBody>
      </p:sp>
    </p:spTree>
    <p:extLst>
      <p:ext uri="{BB962C8B-B14F-4D97-AF65-F5344CB8AC3E}">
        <p14:creationId xmlns:p14="http://schemas.microsoft.com/office/powerpoint/2010/main" val="4268336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B2225A-F635-4102-B731-521B44F9E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Korišćene</a:t>
            </a:r>
            <a:r>
              <a:rPr lang="en-US" dirty="0"/>
              <a:t> </a:t>
            </a:r>
            <a:r>
              <a:rPr lang="en-US" dirty="0" err="1"/>
              <a:t>tehnologije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497D4-5DB9-4A14-7E85-60EA124EB5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3600" b="1" dirty="0" err="1"/>
              <a:t>Hardver</a:t>
            </a:r>
            <a:br>
              <a:rPr lang="en-US" sz="3600" b="1" dirty="0"/>
            </a:br>
            <a:br>
              <a:rPr lang="en-US" b="1" dirty="0"/>
            </a:br>
            <a:r>
              <a:rPr lang="en-US" b="1" dirty="0"/>
              <a:t>Arduino Nano 33 BLE Sense Lite</a:t>
            </a:r>
          </a:p>
          <a:p>
            <a:pPr marL="0" indent="0">
              <a:buNone/>
            </a:pPr>
            <a:r>
              <a:rPr lang="en-US" dirty="0" err="1"/>
              <a:t>Ugrađeni</a:t>
            </a:r>
            <a:r>
              <a:rPr lang="en-US" dirty="0"/>
              <a:t> moduli </a:t>
            </a:r>
            <a:r>
              <a:rPr lang="en-US" dirty="0" err="1"/>
              <a:t>korišćeni</a:t>
            </a:r>
            <a:r>
              <a:rPr lang="en-US" dirty="0"/>
              <a:t> u </a:t>
            </a:r>
            <a:r>
              <a:rPr lang="en-US" dirty="0" err="1"/>
              <a:t>projektu</a:t>
            </a:r>
            <a:r>
              <a:rPr lang="en-US" dirty="0"/>
              <a:t>:</a:t>
            </a:r>
          </a:p>
          <a:p>
            <a:r>
              <a:rPr lang="en-US" b="1" dirty="0" err="1"/>
              <a:t>Mikrofon</a:t>
            </a:r>
            <a:r>
              <a:rPr lang="en-US" b="1" dirty="0"/>
              <a:t> (PDM)</a:t>
            </a:r>
            <a:r>
              <a:rPr lang="sr-Latn-RS" b="1" dirty="0"/>
              <a:t> - </a:t>
            </a:r>
            <a:r>
              <a:rPr lang="sr-Latn-RS" dirty="0"/>
              <a:t>za</a:t>
            </a:r>
            <a:r>
              <a:rPr lang="sr-Latn-RS" b="1" dirty="0"/>
              <a:t> </a:t>
            </a:r>
            <a:r>
              <a:rPr lang="en-US" dirty="0" err="1"/>
              <a:t>snimanje</a:t>
            </a:r>
            <a:r>
              <a:rPr lang="en-US" dirty="0"/>
              <a:t> audio </a:t>
            </a:r>
            <a:r>
              <a:rPr lang="en-US" dirty="0" err="1"/>
              <a:t>signala</a:t>
            </a:r>
            <a:r>
              <a:rPr lang="en-US" dirty="0"/>
              <a:t> </a:t>
            </a:r>
            <a:r>
              <a:rPr lang="sr-Latn-RS" dirty="0"/>
              <a:t>radi </a:t>
            </a:r>
            <a:r>
              <a:rPr lang="en-US" dirty="0" err="1"/>
              <a:t>prepoznavanj</a:t>
            </a:r>
            <a:r>
              <a:rPr lang="sr-Latn-RS" dirty="0"/>
              <a:t>a</a:t>
            </a:r>
            <a:r>
              <a:rPr lang="en-US" dirty="0"/>
              <a:t> </a:t>
            </a:r>
            <a:r>
              <a:rPr lang="en-US" dirty="0" err="1"/>
              <a:t>glasovnih</a:t>
            </a:r>
            <a:r>
              <a:rPr lang="en-US" dirty="0"/>
              <a:t> </a:t>
            </a:r>
            <a:r>
              <a:rPr lang="en-US" dirty="0" err="1"/>
              <a:t>komandi</a:t>
            </a:r>
            <a:r>
              <a:rPr lang="en-US" dirty="0"/>
              <a:t> </a:t>
            </a:r>
          </a:p>
          <a:p>
            <a:r>
              <a:rPr lang="en-US" b="1" dirty="0"/>
              <a:t>APDS9960 </a:t>
            </a:r>
            <a:r>
              <a:rPr lang="en-US" b="1" dirty="0" err="1"/>
              <a:t>senzor</a:t>
            </a:r>
            <a:r>
              <a:rPr lang="sr-Latn-RS" b="1" dirty="0"/>
              <a:t> – </a:t>
            </a:r>
            <a:r>
              <a:rPr lang="sr-Latn-RS" dirty="0"/>
              <a:t>za </a:t>
            </a:r>
            <a:r>
              <a:rPr lang="en-US" dirty="0" err="1"/>
              <a:t>detekcij</a:t>
            </a:r>
            <a:r>
              <a:rPr lang="sr-Latn-RS" dirty="0"/>
              <a:t>u</a:t>
            </a:r>
            <a:r>
              <a:rPr lang="en-US" dirty="0"/>
              <a:t> </a:t>
            </a:r>
            <a:r>
              <a:rPr lang="en-US" dirty="0" err="1"/>
              <a:t>ambijentalnog</a:t>
            </a:r>
            <a:r>
              <a:rPr lang="en-US" dirty="0"/>
              <a:t> </a:t>
            </a:r>
            <a:r>
              <a:rPr lang="en-US" dirty="0" err="1"/>
              <a:t>osvetljenja</a:t>
            </a:r>
            <a:endParaRPr lang="en-US" dirty="0"/>
          </a:p>
          <a:p>
            <a:r>
              <a:rPr lang="en-US" b="1" dirty="0"/>
              <a:t>LSM9DS1 </a:t>
            </a:r>
            <a:r>
              <a:rPr lang="en-US" b="1" dirty="0" err="1"/>
              <a:t>senozr</a:t>
            </a:r>
            <a:r>
              <a:rPr lang="en-US" b="1" dirty="0"/>
              <a:t> </a:t>
            </a:r>
            <a:r>
              <a:rPr lang="en-US" dirty="0"/>
              <a:t>– za </a:t>
            </a:r>
            <a:r>
              <a:rPr lang="en-US" dirty="0" err="1"/>
              <a:t>prikupljanje</a:t>
            </a:r>
            <a:r>
              <a:rPr lang="en-US" dirty="0"/>
              <a:t> </a:t>
            </a:r>
            <a:r>
              <a:rPr lang="en-US" dirty="0" err="1"/>
              <a:t>podataka</a:t>
            </a:r>
            <a:r>
              <a:rPr lang="en-US" dirty="0"/>
              <a:t> za </a:t>
            </a:r>
            <a:r>
              <a:rPr lang="en-US" dirty="0" err="1"/>
              <a:t>akcelerometra</a:t>
            </a:r>
            <a:r>
              <a:rPr lang="en-US" dirty="0"/>
              <a:t> </a:t>
            </a:r>
            <a:endParaRPr lang="en-US" b="1" dirty="0"/>
          </a:p>
          <a:p>
            <a:r>
              <a:rPr lang="en-US" b="1" dirty="0"/>
              <a:t>LED diode</a:t>
            </a:r>
            <a:r>
              <a:rPr lang="sr-Latn-RS" b="1" dirty="0"/>
              <a:t> – </a:t>
            </a:r>
            <a:r>
              <a:rPr lang="en-US" dirty="0" err="1"/>
              <a:t>plava</a:t>
            </a:r>
            <a:r>
              <a:rPr lang="en-US" dirty="0"/>
              <a:t>, </a:t>
            </a:r>
            <a:r>
              <a:rPr lang="sr-Latn-RS" dirty="0"/>
              <a:t>crvena</a:t>
            </a:r>
            <a:r>
              <a:rPr lang="en-US" dirty="0"/>
              <a:t> i </a:t>
            </a:r>
            <a:r>
              <a:rPr lang="en-US" dirty="0" err="1"/>
              <a:t>zelena</a:t>
            </a:r>
            <a:r>
              <a:rPr lang="en-US" dirty="0"/>
              <a:t> LED</a:t>
            </a:r>
            <a:br>
              <a:rPr lang="en-US" dirty="0"/>
            </a:br>
            <a:endParaRPr lang="en-US" dirty="0"/>
          </a:p>
          <a:p>
            <a:pPr marL="0" indent="0">
              <a:buNone/>
            </a:pPr>
            <a:r>
              <a:rPr lang="en-US" b="1" dirty="0"/>
              <a:t>Raspberry Pi 4</a:t>
            </a:r>
          </a:p>
        </p:txBody>
      </p:sp>
    </p:spTree>
    <p:extLst>
      <p:ext uri="{BB962C8B-B14F-4D97-AF65-F5344CB8AC3E}">
        <p14:creationId xmlns:p14="http://schemas.microsoft.com/office/powerpoint/2010/main" val="8102721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D5C279-6EBA-EBC2-4A1E-3A0ABA5C5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9E8D89-5B49-5439-FFBB-8ECF0E8E1D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Korišćene</a:t>
            </a:r>
            <a:r>
              <a:rPr lang="en-US" dirty="0"/>
              <a:t> </a:t>
            </a:r>
            <a:r>
              <a:rPr lang="en-US" dirty="0" err="1"/>
              <a:t>tehnologije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2DB333-373C-1319-9CB6-6BFC1F93FF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3600" b="1" dirty="0" err="1"/>
              <a:t>Softver</a:t>
            </a:r>
            <a:br>
              <a:rPr lang="en-US" sz="3600" b="1" dirty="0"/>
            </a:br>
            <a:br>
              <a:rPr lang="en-US" b="1" dirty="0"/>
            </a:br>
            <a:r>
              <a:rPr lang="en-US" b="1" dirty="0"/>
              <a:t>Python, Docker, Docker Compose</a:t>
            </a:r>
            <a:r>
              <a:rPr lang="sr-Latn-RS" b="1" dirty="0"/>
              <a:t>, </a:t>
            </a:r>
            <a:r>
              <a:rPr lang="sr-Latn-RS" b="1" dirty="0" err="1"/>
              <a:t>Mosquitto</a:t>
            </a:r>
            <a:r>
              <a:rPr lang="sr-Latn-RS" b="1" dirty="0"/>
              <a:t>, </a:t>
            </a:r>
            <a:r>
              <a:rPr lang="sr-Latn-RS" b="1" dirty="0" err="1"/>
              <a:t>TensorFlow</a:t>
            </a:r>
            <a:r>
              <a:rPr lang="sr-Latn-RS" b="1" dirty="0"/>
              <a:t> </a:t>
            </a:r>
            <a:r>
              <a:rPr lang="sr-Latn-RS" b="1" dirty="0" err="1"/>
              <a:t>Lite</a:t>
            </a:r>
            <a:r>
              <a:rPr lang="sr-Latn-RS" b="1" dirty="0"/>
              <a:t>, </a:t>
            </a:r>
            <a:r>
              <a:rPr lang="sr-Latn-RS" b="1" dirty="0" err="1"/>
              <a:t>InfluxDb</a:t>
            </a:r>
            <a:r>
              <a:rPr lang="sr-Latn-RS" b="1" dirty="0"/>
              <a:t>, </a:t>
            </a:r>
            <a:r>
              <a:rPr lang="sr-Latn-RS" b="1" dirty="0" err="1"/>
              <a:t>Grafana</a:t>
            </a:r>
            <a:endParaRPr lang="en-US" b="1" dirty="0"/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sz="3600" b="1" dirty="0" err="1"/>
              <a:t>Komunikacija</a:t>
            </a:r>
            <a:endParaRPr lang="en-US" sz="3600" b="1" dirty="0"/>
          </a:p>
          <a:p>
            <a:pPr marL="0" indent="0">
              <a:buNone/>
            </a:pPr>
            <a:r>
              <a:rPr lang="en-US" b="1" dirty="0" err="1"/>
              <a:t>Serijska</a:t>
            </a:r>
            <a:r>
              <a:rPr lang="en-US" b="1" dirty="0"/>
              <a:t> </a:t>
            </a:r>
            <a:r>
              <a:rPr lang="en-US" b="1" dirty="0" err="1"/>
              <a:t>komunikacija</a:t>
            </a:r>
            <a:r>
              <a:rPr lang="en-US" b="1" dirty="0"/>
              <a:t> (USB) –</a:t>
            </a:r>
            <a:r>
              <a:rPr lang="sr-Latn-RS" b="1" dirty="0"/>
              <a:t> </a:t>
            </a:r>
            <a:r>
              <a:rPr lang="en-US" dirty="0"/>
              <a:t>Arduino </a:t>
            </a:r>
            <a:r>
              <a:rPr lang="sr-Latn-RS" dirty="0"/>
              <a:t>ka</a:t>
            </a:r>
            <a:r>
              <a:rPr lang="en-US" dirty="0"/>
              <a:t> </a:t>
            </a:r>
            <a:r>
              <a:rPr lang="en-US" dirty="0" err="1"/>
              <a:t>Rpi</a:t>
            </a:r>
            <a:br>
              <a:rPr lang="sr-Latn-RS" dirty="0"/>
            </a:br>
            <a:r>
              <a:rPr lang="sr-Latn-RS" b="1" dirty="0"/>
              <a:t>MQTT protokol – </a:t>
            </a:r>
            <a:r>
              <a:rPr lang="sr-Latn-RS" dirty="0" err="1"/>
              <a:t>Rpi</a:t>
            </a:r>
            <a:r>
              <a:rPr lang="sr-Latn-RS" dirty="0"/>
              <a:t> ka </a:t>
            </a:r>
            <a:r>
              <a:rPr lang="sr-Latn-RS" dirty="0" err="1"/>
              <a:t>Arduino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85707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71C3F5-4F31-F69E-99AC-D83DF920C7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98AD9F-EBA0-558A-171C-94363F6BDA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Cilj</a:t>
            </a:r>
            <a:r>
              <a:rPr lang="en-US" dirty="0"/>
              <a:t> </a:t>
            </a:r>
            <a:r>
              <a:rPr lang="en-US" dirty="0" err="1"/>
              <a:t>projekta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B5D71D-76FF-2E72-AED1-133A2A10FB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sr-Latn-RS" b="1" i="1" dirty="0"/>
              <a:t>Zahtevi</a:t>
            </a:r>
            <a:endParaRPr lang="en-US" b="1" i="1" dirty="0"/>
          </a:p>
          <a:p>
            <a:pPr lvl="0"/>
            <a:r>
              <a:rPr lang="en-US" dirty="0" err="1"/>
              <a:t>Nadogradnja</a:t>
            </a:r>
            <a:r>
              <a:rPr lang="en-US" dirty="0"/>
              <a:t> </a:t>
            </a:r>
            <a:r>
              <a:rPr lang="en-US" dirty="0" err="1"/>
              <a:t>projekta</a:t>
            </a:r>
            <a:r>
              <a:rPr lang="en-US" dirty="0"/>
              <a:t> 1</a:t>
            </a:r>
          </a:p>
          <a:p>
            <a:pPr lvl="0"/>
            <a:r>
              <a:rPr lang="en-US" dirty="0" err="1"/>
              <a:t>Treniranje</a:t>
            </a:r>
            <a:r>
              <a:rPr lang="en-US" dirty="0"/>
              <a:t> ML/Dl </a:t>
            </a:r>
            <a:r>
              <a:rPr lang="en-US" dirty="0" err="1"/>
              <a:t>modela</a:t>
            </a:r>
            <a:r>
              <a:rPr lang="en-US" dirty="0"/>
              <a:t> kori</a:t>
            </a:r>
            <a:r>
              <a:rPr lang="sr-Latn-RS" dirty="0" err="1"/>
              <a:t>šćenjem</a:t>
            </a:r>
            <a:r>
              <a:rPr lang="sr-Latn-RS" dirty="0"/>
              <a:t> </a:t>
            </a:r>
            <a:r>
              <a:rPr lang="sr-Latn-RS" dirty="0" err="1"/>
              <a:t>TensorFlow</a:t>
            </a:r>
            <a:r>
              <a:rPr lang="sr-Latn-RS" dirty="0"/>
              <a:t> </a:t>
            </a:r>
            <a:r>
              <a:rPr lang="sr-Latn-RS" dirty="0" err="1"/>
              <a:t>Lite</a:t>
            </a:r>
            <a:endParaRPr lang="sr-Latn-RS" dirty="0"/>
          </a:p>
          <a:p>
            <a:pPr lvl="0"/>
            <a:r>
              <a:rPr lang="sr-Latn-RS" dirty="0"/>
              <a:t>Automatsko pokretanje </a:t>
            </a:r>
            <a:r>
              <a:rPr lang="sr-Latn-RS" dirty="0" err="1"/>
              <a:t>aktuatora</a:t>
            </a:r>
            <a:endParaRPr lang="sr-Latn-RS" dirty="0"/>
          </a:p>
          <a:p>
            <a:pPr marL="0" lvl="0" indent="0">
              <a:buNone/>
            </a:pPr>
            <a:endParaRPr lang="sr-Latn-RS" b="1" i="1" dirty="0"/>
          </a:p>
          <a:p>
            <a:pPr marL="0" lvl="0" indent="0">
              <a:buNone/>
            </a:pPr>
            <a:r>
              <a:rPr lang="en-US" b="1" i="1" dirty="0" err="1"/>
              <a:t>Funkcionalnost</a:t>
            </a:r>
            <a:r>
              <a:rPr lang="sr-Latn-RS" b="1" i="1" dirty="0"/>
              <a:t>i</a:t>
            </a:r>
            <a:endParaRPr lang="en-US" b="1" i="1" dirty="0"/>
          </a:p>
          <a:p>
            <a:pPr lvl="0" algn="just"/>
            <a:r>
              <a:rPr lang="en-US" dirty="0" err="1"/>
              <a:t>Komanda</a:t>
            </a:r>
            <a:r>
              <a:rPr lang="en-US" dirty="0"/>
              <a:t> </a:t>
            </a:r>
            <a:r>
              <a:rPr lang="en-US" b="1" dirty="0"/>
              <a:t>"Let`s</a:t>
            </a:r>
            <a:r>
              <a:rPr lang="sr-Latn-RS" b="1" dirty="0"/>
              <a:t> </a:t>
            </a:r>
            <a:r>
              <a:rPr lang="en-US" b="1" dirty="0"/>
              <a:t>start"</a:t>
            </a:r>
            <a:r>
              <a:rPr lang="en-US" dirty="0"/>
              <a:t> </a:t>
            </a:r>
            <a:r>
              <a:rPr lang="en-US" dirty="0" err="1"/>
              <a:t>pokreće</a:t>
            </a:r>
            <a:r>
              <a:rPr lang="en-US" dirty="0"/>
              <a:t> </a:t>
            </a:r>
            <a:r>
              <a:rPr lang="sr-Latn-RS" dirty="0"/>
              <a:t>očitavanje, aktivira se LED indikator i počinje o</a:t>
            </a:r>
            <a:r>
              <a:rPr lang="en-US" dirty="0" err="1"/>
              <a:t>čitava</a:t>
            </a:r>
            <a:r>
              <a:rPr lang="sr-Latn-RS" dirty="0"/>
              <a:t>nje podataka sa </a:t>
            </a:r>
            <a:r>
              <a:rPr lang="sr-Latn-RS" dirty="0" err="1"/>
              <a:t>akcelerometra</a:t>
            </a:r>
            <a:r>
              <a:rPr lang="sr-Latn-RS" dirty="0"/>
              <a:t>.</a:t>
            </a:r>
          </a:p>
          <a:p>
            <a:pPr lvl="0" algn="just"/>
            <a:r>
              <a:rPr lang="sr-Latn-RS" dirty="0"/>
              <a:t>Podaci sa </a:t>
            </a:r>
            <a:r>
              <a:rPr lang="sr-Latn-RS" dirty="0" err="1"/>
              <a:t>akcelerometra</a:t>
            </a:r>
            <a:r>
              <a:rPr lang="sr-Latn-RS" dirty="0"/>
              <a:t> se šalju na </a:t>
            </a:r>
            <a:r>
              <a:rPr lang="sr-Latn-RS" dirty="0" err="1"/>
              <a:t>Rpi</a:t>
            </a:r>
            <a:r>
              <a:rPr lang="sr-Latn-RS" dirty="0"/>
              <a:t>, gde su pokrenuti servisi kroz </a:t>
            </a:r>
            <a:r>
              <a:rPr lang="sr-Latn-RS" dirty="0" err="1"/>
              <a:t>Docker</a:t>
            </a:r>
            <a:r>
              <a:rPr lang="sr-Latn-RS" dirty="0"/>
              <a:t> </a:t>
            </a:r>
            <a:r>
              <a:rPr lang="sr-Latn-RS" dirty="0" err="1"/>
              <a:t>compose</a:t>
            </a:r>
            <a:r>
              <a:rPr lang="sr-Latn-RS" dirty="0"/>
              <a:t>. Vrši se upis podataka u bazu, detekcija događaja i slanje komande za </a:t>
            </a:r>
            <a:r>
              <a:rPr lang="sr-Latn-RS" dirty="0" err="1"/>
              <a:t>aktuatore</a:t>
            </a:r>
            <a:r>
              <a:rPr lang="sr-Latn-RS" dirty="0"/>
              <a:t> po potrebi.</a:t>
            </a:r>
            <a:endParaRPr lang="en-US" dirty="0"/>
          </a:p>
          <a:p>
            <a:pPr lvl="0" algn="just"/>
            <a:r>
              <a:rPr lang="en-US" dirty="0" err="1"/>
              <a:t>Komanda</a:t>
            </a:r>
            <a:r>
              <a:rPr lang="en-US" dirty="0"/>
              <a:t> </a:t>
            </a:r>
            <a:r>
              <a:rPr lang="en-US" b="1" dirty="0"/>
              <a:t>"Finish"</a:t>
            </a:r>
            <a:r>
              <a:rPr lang="en-US" dirty="0"/>
              <a:t> </a:t>
            </a:r>
            <a:r>
              <a:rPr lang="en-US" dirty="0" err="1"/>
              <a:t>zaustavlja</a:t>
            </a:r>
            <a:r>
              <a:rPr lang="en-US" dirty="0"/>
              <a:t> rad </a:t>
            </a:r>
            <a:r>
              <a:rPr lang="en-US" dirty="0" err="1"/>
              <a:t>sistema</a:t>
            </a:r>
            <a:r>
              <a:rPr lang="sr-Latn-RS" dirty="0"/>
              <a:t>.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32896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23B32F-CED6-9A72-769A-0FC2C50EE1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CCCC84-BBBE-0C80-D8BE-F0C4A1F98A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Latn-RS" dirty="0"/>
              <a:t>Prikupljanje podataka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B7D8D-2DBF-ACA0-3B9B-1D978D7F91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just"/>
            <a:r>
              <a:rPr lang="sr-Latn-RS" dirty="0"/>
              <a:t>Nakon startovanja sistema komandom </a:t>
            </a:r>
            <a:r>
              <a:rPr lang="en-US" b="1" dirty="0"/>
              <a:t>"Let`s</a:t>
            </a:r>
            <a:r>
              <a:rPr lang="sr-Latn-RS" b="1" dirty="0"/>
              <a:t> </a:t>
            </a:r>
            <a:r>
              <a:rPr lang="en-US" b="1" dirty="0"/>
              <a:t>start"</a:t>
            </a:r>
            <a:r>
              <a:rPr lang="en-US" dirty="0"/>
              <a:t> </a:t>
            </a:r>
            <a:r>
              <a:rPr lang="sr-Latn-RS" dirty="0"/>
              <a:t> prikupljaju se podaci sa a</a:t>
            </a:r>
            <a:r>
              <a:rPr lang="en-US" dirty="0" err="1"/>
              <a:t>kceleromet</a:t>
            </a:r>
            <a:r>
              <a:rPr lang="sr-Latn-RS" dirty="0" err="1"/>
              <a:t>ra</a:t>
            </a:r>
            <a:r>
              <a:rPr lang="sr-Latn-RS" dirty="0"/>
              <a:t> sa frekvencijom uzrokovanja 20 </a:t>
            </a:r>
            <a:r>
              <a:rPr lang="sr-Latn-RS" dirty="0" err="1"/>
              <a:t>Hz</a:t>
            </a:r>
            <a:r>
              <a:rPr lang="sr-Latn-RS" dirty="0"/>
              <a:t>:</a:t>
            </a:r>
          </a:p>
          <a:p>
            <a:pPr lvl="1" algn="just"/>
            <a:r>
              <a:rPr lang="en-US" dirty="0"/>
              <a:t>X </a:t>
            </a:r>
            <a:r>
              <a:rPr lang="en-US" dirty="0" err="1"/>
              <a:t>osa</a:t>
            </a:r>
            <a:r>
              <a:rPr lang="en-US" dirty="0"/>
              <a:t> </a:t>
            </a:r>
          </a:p>
          <a:p>
            <a:pPr lvl="1" algn="just"/>
            <a:r>
              <a:rPr lang="en-US" dirty="0"/>
              <a:t>Y </a:t>
            </a:r>
            <a:r>
              <a:rPr lang="en-US" dirty="0" err="1"/>
              <a:t>osa</a:t>
            </a:r>
            <a:r>
              <a:rPr lang="en-US" dirty="0"/>
              <a:t> </a:t>
            </a:r>
          </a:p>
          <a:p>
            <a:pPr lvl="1" algn="just"/>
            <a:r>
              <a:rPr lang="en-US" dirty="0"/>
              <a:t>Z </a:t>
            </a:r>
            <a:r>
              <a:rPr lang="en-US" dirty="0" err="1"/>
              <a:t>osa</a:t>
            </a:r>
            <a:r>
              <a:rPr lang="en-US" dirty="0"/>
              <a:t> </a:t>
            </a:r>
            <a:endParaRPr lang="sr-Latn-RS" dirty="0"/>
          </a:p>
          <a:p>
            <a:pPr algn="just"/>
            <a:r>
              <a:rPr lang="sr-Latn-RS" dirty="0"/>
              <a:t>Servis </a:t>
            </a:r>
            <a:r>
              <a:rPr lang="sr-Latn-RS" b="1" i="1" dirty="0" err="1"/>
              <a:t>read_from_arduino</a:t>
            </a:r>
            <a:r>
              <a:rPr lang="sr-Latn-RS" b="1" i="1" dirty="0"/>
              <a:t> </a:t>
            </a:r>
            <a:r>
              <a:rPr lang="sr-Latn-RS" dirty="0"/>
              <a:t>je pomoćni </a:t>
            </a:r>
            <a:r>
              <a:rPr lang="sr-Latn-RS" dirty="0" err="1"/>
              <a:t>Python</a:t>
            </a:r>
            <a:r>
              <a:rPr lang="sr-Latn-RS" dirty="0"/>
              <a:t> servis koji kontinuirano osluškuje </a:t>
            </a:r>
            <a:r>
              <a:rPr lang="sr-Latn-RS" dirty="0" err="1"/>
              <a:t>serijksi</a:t>
            </a:r>
            <a:r>
              <a:rPr lang="sr-Latn-RS" dirty="0"/>
              <a:t> port korišćenjem </a:t>
            </a:r>
            <a:r>
              <a:rPr lang="sr-Latn-RS" dirty="0" err="1"/>
              <a:t>PySerial</a:t>
            </a:r>
            <a:r>
              <a:rPr lang="sr-Latn-RS" dirty="0"/>
              <a:t> biblioteke. Vrši parsiranje podataka i šalje izdvojene</a:t>
            </a:r>
            <a:r>
              <a:rPr lang="en-US" dirty="0"/>
              <a:t> </a:t>
            </a:r>
            <a:r>
              <a:rPr lang="en-US" dirty="0" err="1"/>
              <a:t>vrednosti</a:t>
            </a:r>
            <a:r>
              <a:rPr lang="en-US" dirty="0"/>
              <a:t> </a:t>
            </a:r>
            <a:r>
              <a:rPr lang="en-US" dirty="0" err="1"/>
              <a:t>akcelerometra</a:t>
            </a:r>
            <a:r>
              <a:rPr lang="en-US" dirty="0"/>
              <a:t> po </a:t>
            </a:r>
            <a:r>
              <a:rPr lang="en-US" dirty="0" err="1"/>
              <a:t>osama</a:t>
            </a:r>
            <a:r>
              <a:rPr lang="en-US" dirty="0"/>
              <a:t> </a:t>
            </a:r>
            <a:r>
              <a:rPr lang="en-US" b="1" dirty="0"/>
              <a:t>X</a:t>
            </a:r>
            <a:r>
              <a:rPr lang="en-US" dirty="0"/>
              <a:t>, </a:t>
            </a:r>
            <a:r>
              <a:rPr lang="en-US" b="1" dirty="0"/>
              <a:t>Y</a:t>
            </a:r>
            <a:r>
              <a:rPr lang="en-US" dirty="0"/>
              <a:t>, </a:t>
            </a:r>
            <a:r>
              <a:rPr lang="en-US" b="1" dirty="0"/>
              <a:t>Z</a:t>
            </a:r>
            <a:r>
              <a:rPr lang="en-US" dirty="0"/>
              <a:t>, </a:t>
            </a:r>
            <a:r>
              <a:rPr lang="en-US" dirty="0" err="1"/>
              <a:t>kao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ukupn</a:t>
            </a:r>
            <a:r>
              <a:rPr lang="sr-Latn-RS" dirty="0"/>
              <a:t>u</a:t>
            </a:r>
            <a:r>
              <a:rPr lang="en-US" dirty="0"/>
              <a:t> </a:t>
            </a:r>
            <a:r>
              <a:rPr lang="en-US" dirty="0" err="1"/>
              <a:t>magnitud</a:t>
            </a:r>
            <a:r>
              <a:rPr lang="sr-Latn-RS" dirty="0"/>
              <a:t>u</a:t>
            </a:r>
            <a:r>
              <a:rPr lang="en-US" dirty="0"/>
              <a:t> </a:t>
            </a:r>
            <a:r>
              <a:rPr lang="en-US" dirty="0" err="1"/>
              <a:t>ubrzanja</a:t>
            </a:r>
            <a:r>
              <a:rPr lang="en-US" dirty="0"/>
              <a:t> (</a:t>
            </a:r>
            <a:r>
              <a:rPr lang="en-US" b="1" dirty="0"/>
              <a:t>Total</a:t>
            </a:r>
            <a:r>
              <a:rPr lang="en-US" dirty="0"/>
              <a:t>)</a:t>
            </a:r>
            <a:r>
              <a:rPr lang="sr-Latn-RS" dirty="0"/>
              <a:t> na MQTT </a:t>
            </a:r>
            <a:r>
              <a:rPr lang="sr-Latn-RS" dirty="0" err="1"/>
              <a:t>topic</a:t>
            </a:r>
            <a:r>
              <a:rPr lang="sr-Latn-RS" dirty="0"/>
              <a:t> </a:t>
            </a:r>
            <a:r>
              <a:rPr lang="sr-Latn-RS" b="1" i="1" dirty="0" err="1"/>
              <a:t>sensors</a:t>
            </a:r>
            <a:r>
              <a:rPr lang="sr-Latn-RS" b="1" i="1" dirty="0"/>
              <a:t>/</a:t>
            </a:r>
            <a:r>
              <a:rPr lang="sr-Latn-RS" b="1" i="1" dirty="0" err="1"/>
              <a:t>arduino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172198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643757-4B98-313B-6635-1523A59749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Latn-RS" dirty="0"/>
              <a:t>Skladištenje podataka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BD1B0-0EAF-4A7E-47A5-DB54851320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34096" y="-535322"/>
            <a:ext cx="7315200" cy="5120640"/>
          </a:xfrm>
        </p:spPr>
        <p:txBody>
          <a:bodyPr/>
          <a:lstStyle/>
          <a:p>
            <a:pPr algn="just"/>
            <a:r>
              <a:rPr lang="en-US" dirty="0"/>
              <a:t>Servis </a:t>
            </a:r>
            <a:r>
              <a:rPr lang="en-US" b="1" i="1" dirty="0" err="1"/>
              <a:t>mqtt</a:t>
            </a:r>
            <a:r>
              <a:rPr lang="en-US" b="1" i="1" dirty="0"/>
              <a:t>-to-influx</a:t>
            </a:r>
            <a:r>
              <a:rPr lang="en-US" dirty="0"/>
              <a:t> je </a:t>
            </a:r>
            <a:r>
              <a:rPr lang="en-US" dirty="0" err="1"/>
              <a:t>zadužen</a:t>
            </a:r>
            <a:r>
              <a:rPr lang="en-US" dirty="0"/>
              <a:t> za </a:t>
            </a:r>
            <a:r>
              <a:rPr lang="en-US" dirty="0" err="1"/>
              <a:t>skladištenje</a:t>
            </a:r>
            <a:r>
              <a:rPr lang="en-US" dirty="0"/>
              <a:t> </a:t>
            </a:r>
            <a:r>
              <a:rPr lang="en-US" dirty="0" err="1"/>
              <a:t>senzorskih</a:t>
            </a:r>
            <a:r>
              <a:rPr lang="en-US" dirty="0"/>
              <a:t> </a:t>
            </a:r>
            <a:r>
              <a:rPr lang="en-US" dirty="0" err="1"/>
              <a:t>podataka</a:t>
            </a:r>
            <a:r>
              <a:rPr lang="en-US" dirty="0"/>
              <a:t> u </a:t>
            </a:r>
            <a:r>
              <a:rPr lang="en-US" dirty="0" err="1"/>
              <a:t>InfluxDB</a:t>
            </a:r>
            <a:r>
              <a:rPr lang="en-US" dirty="0"/>
              <a:t>.</a:t>
            </a:r>
            <a:r>
              <a:rPr lang="sr-Latn-RS" dirty="0"/>
              <a:t> P</a:t>
            </a:r>
            <a:r>
              <a:rPr lang="en-US" dirty="0" err="1"/>
              <a:t>retplaćen</a:t>
            </a:r>
            <a:r>
              <a:rPr lang="en-US" dirty="0"/>
              <a:t> </a:t>
            </a:r>
            <a:r>
              <a:rPr lang="sr-Latn-RS" dirty="0"/>
              <a:t>je </a:t>
            </a:r>
            <a:r>
              <a:rPr lang="en-US" dirty="0" err="1"/>
              <a:t>na</a:t>
            </a:r>
            <a:r>
              <a:rPr lang="sr-Latn-RS" dirty="0"/>
              <a:t> </a:t>
            </a:r>
            <a:r>
              <a:rPr lang="sr-Latn-RS" b="1" i="1" dirty="0" err="1"/>
              <a:t>sensors</a:t>
            </a:r>
            <a:r>
              <a:rPr lang="sr-Latn-RS" b="1" i="1" dirty="0"/>
              <a:t>/</a:t>
            </a:r>
            <a:r>
              <a:rPr lang="sr-Latn-RS" b="1" i="1" dirty="0" err="1"/>
              <a:t>arduino</a:t>
            </a:r>
            <a:r>
              <a:rPr lang="sr-Latn-RS" b="1" i="1" dirty="0"/>
              <a:t> </a:t>
            </a:r>
            <a:r>
              <a:rPr lang="en-US" dirty="0"/>
              <a:t>MQTT topic</a:t>
            </a:r>
            <a:r>
              <a:rPr lang="sr-Latn-RS" dirty="0"/>
              <a:t>.</a:t>
            </a:r>
            <a:r>
              <a:rPr lang="en-US" dirty="0"/>
              <a:t> </a:t>
            </a:r>
            <a:endParaRPr lang="sr-Latn-RS" dirty="0"/>
          </a:p>
          <a:p>
            <a:pPr algn="just"/>
            <a:r>
              <a:rPr lang="sr-Latn-RS" dirty="0"/>
              <a:t>Podaci iz </a:t>
            </a:r>
            <a:r>
              <a:rPr lang="sr-Latn-RS" dirty="0" err="1"/>
              <a:t>InfluxDb</a:t>
            </a:r>
            <a:r>
              <a:rPr lang="sr-Latn-RS" dirty="0"/>
              <a:t> se vizualizuju u </a:t>
            </a:r>
            <a:r>
              <a:rPr lang="sr-Latn-RS" dirty="0" err="1"/>
              <a:t>Grafani</a:t>
            </a:r>
            <a:r>
              <a:rPr lang="sr-Latn-RS" dirty="0"/>
              <a:t>.</a:t>
            </a:r>
          </a:p>
          <a:p>
            <a:pPr algn="just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9FE0B0A-C797-87BD-EA8C-5CACB06CD8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9156" y="2998966"/>
            <a:ext cx="3972046" cy="31727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35350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5A109F-0AF6-45BF-03CC-B43714CB09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380A51-78F7-FFC9-B00D-388FC3BFDD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Latn-RS" dirty="0"/>
              <a:t>T</a:t>
            </a:r>
            <a:r>
              <a:rPr lang="en-US" dirty="0" err="1"/>
              <a:t>reniranje</a:t>
            </a:r>
            <a:r>
              <a:rPr lang="en-US" dirty="0"/>
              <a:t> </a:t>
            </a:r>
            <a:r>
              <a:rPr lang="en-US" dirty="0" err="1"/>
              <a:t>modela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26D7CC-F34F-A816-E727-D8C6779B06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just"/>
            <a:r>
              <a:rPr lang="en-US" dirty="0" err="1"/>
              <a:t>Prikuplj</a:t>
            </a:r>
            <a:r>
              <a:rPr lang="sr-Latn-RS" dirty="0" err="1"/>
              <a:t>eni</a:t>
            </a:r>
            <a:r>
              <a:rPr lang="en-US" dirty="0"/>
              <a:t> s</a:t>
            </a:r>
            <a:r>
              <a:rPr lang="sr-Latn-RS" dirty="0"/>
              <a:t>u</a:t>
            </a:r>
            <a:r>
              <a:rPr lang="en-US" dirty="0"/>
              <a:t> </a:t>
            </a:r>
            <a:r>
              <a:rPr lang="en-US" dirty="0" err="1"/>
              <a:t>podaci</a:t>
            </a:r>
            <a:r>
              <a:rPr lang="en-US" dirty="0"/>
              <a:t> </a:t>
            </a:r>
            <a:r>
              <a:rPr lang="en-US" dirty="0" err="1"/>
              <a:t>akcelerometra</a:t>
            </a:r>
            <a:r>
              <a:rPr lang="en-US" dirty="0"/>
              <a:t> za </a:t>
            </a:r>
            <a:r>
              <a:rPr lang="en-US" dirty="0" err="1"/>
              <a:t>različite</a:t>
            </a:r>
            <a:r>
              <a:rPr lang="en-US" dirty="0"/>
              <a:t> </a:t>
            </a:r>
            <a:r>
              <a:rPr lang="en-US" dirty="0" err="1"/>
              <a:t>klase</a:t>
            </a:r>
            <a:r>
              <a:rPr lang="en-US" dirty="0"/>
              <a:t>:</a:t>
            </a:r>
          </a:p>
          <a:p>
            <a:pPr lvl="1" algn="just"/>
            <a:r>
              <a:rPr lang="en-US" dirty="0" err="1"/>
              <a:t>normalno</a:t>
            </a:r>
            <a:r>
              <a:rPr lang="en-US" dirty="0"/>
              <a:t> </a:t>
            </a:r>
            <a:r>
              <a:rPr lang="en-US" dirty="0" err="1"/>
              <a:t>stanje</a:t>
            </a:r>
            <a:r>
              <a:rPr lang="en-US" dirty="0"/>
              <a:t> </a:t>
            </a:r>
          </a:p>
          <a:p>
            <a:pPr lvl="1" algn="just"/>
            <a:r>
              <a:rPr lang="en-US" dirty="0" err="1"/>
              <a:t>pokret</a:t>
            </a:r>
            <a:r>
              <a:rPr lang="en-US" dirty="0"/>
              <a:t>/</a:t>
            </a:r>
            <a:r>
              <a:rPr lang="en-US" dirty="0" err="1"/>
              <a:t>događaj</a:t>
            </a:r>
            <a:endParaRPr lang="sr-Latn-RS" dirty="0"/>
          </a:p>
          <a:p>
            <a:pPr algn="just"/>
            <a:r>
              <a:rPr lang="sr-Latn-RS" dirty="0"/>
              <a:t>Skripta </a:t>
            </a:r>
            <a:r>
              <a:rPr lang="sr-Latn-RS" b="1" i="1" dirty="0"/>
              <a:t>procces_data.py </a:t>
            </a:r>
            <a:r>
              <a:rPr lang="sr-Latn-RS" dirty="0"/>
              <a:t>se koristi da obradi podatke  i pripremi ih za treniranje ML modela. Deli podatke na trening i test skup, kao i podatke na vremenske prozore gde svaki prozor sadrži 4 uzorka. </a:t>
            </a:r>
          </a:p>
          <a:p>
            <a:pPr algn="just"/>
            <a:r>
              <a:rPr lang="sr-Latn-RS" dirty="0"/>
              <a:t>Skripta </a:t>
            </a:r>
            <a:r>
              <a:rPr lang="sr-Latn-RS" b="1" i="1" dirty="0"/>
              <a:t>train_model.py </a:t>
            </a:r>
            <a:r>
              <a:rPr lang="sr-Latn-RS" dirty="0"/>
              <a:t>se koristi za treniranje modela, a </a:t>
            </a:r>
            <a:r>
              <a:rPr lang="sr-Latn-RS" b="1" i="1" dirty="0"/>
              <a:t>convert_tflite.py </a:t>
            </a:r>
            <a:r>
              <a:rPr lang="sr-Latn-RS" dirty="0"/>
              <a:t>za konvertovanje model u </a:t>
            </a:r>
            <a:r>
              <a:rPr lang="sr-Latn-RS" dirty="0" err="1"/>
              <a:t>TensorFlow</a:t>
            </a:r>
            <a:r>
              <a:rPr lang="sr-Latn-RS" dirty="0"/>
              <a:t> </a:t>
            </a:r>
            <a:r>
              <a:rPr lang="sr-Latn-RS" dirty="0" err="1"/>
              <a:t>Lite</a:t>
            </a:r>
            <a:r>
              <a:rPr lang="sr-Latn-RS" dirty="0"/>
              <a:t> format, kako bi mogao da se koristi na </a:t>
            </a:r>
            <a:r>
              <a:rPr lang="sr-Latn-RS" dirty="0" err="1"/>
              <a:t>Rpi</a:t>
            </a:r>
            <a:r>
              <a:rPr lang="sr-Latn-RS" dirty="0"/>
              <a:t>. </a:t>
            </a:r>
            <a:r>
              <a:rPr lang="en-US" dirty="0"/>
              <a:t>Za </a:t>
            </a:r>
            <a:r>
              <a:rPr lang="en-US" dirty="0" err="1"/>
              <a:t>klasifikaciju</a:t>
            </a:r>
            <a:r>
              <a:rPr lang="en-US" dirty="0"/>
              <a:t> </a:t>
            </a:r>
            <a:r>
              <a:rPr lang="en-US" dirty="0" err="1"/>
              <a:t>senzorskih</a:t>
            </a:r>
            <a:r>
              <a:rPr lang="en-US" dirty="0"/>
              <a:t> </a:t>
            </a:r>
            <a:r>
              <a:rPr lang="en-US" dirty="0" err="1"/>
              <a:t>podataka</a:t>
            </a:r>
            <a:r>
              <a:rPr lang="en-US" dirty="0"/>
              <a:t> </a:t>
            </a:r>
            <a:r>
              <a:rPr lang="en-US" dirty="0" err="1"/>
              <a:t>korišćena</a:t>
            </a:r>
            <a:r>
              <a:rPr lang="en-US" dirty="0"/>
              <a:t> je 1D </a:t>
            </a:r>
            <a:r>
              <a:rPr lang="en-US" dirty="0" err="1"/>
              <a:t>konvolutna</a:t>
            </a:r>
            <a:r>
              <a:rPr lang="en-US" dirty="0"/>
              <a:t> </a:t>
            </a:r>
            <a:r>
              <a:rPr lang="en-US" dirty="0" err="1"/>
              <a:t>neuronska</a:t>
            </a:r>
            <a:r>
              <a:rPr lang="en-US" dirty="0"/>
              <a:t> </a:t>
            </a:r>
            <a:r>
              <a:rPr lang="en-US" dirty="0" err="1"/>
              <a:t>mreža</a:t>
            </a:r>
            <a:r>
              <a:rPr lang="en-US" dirty="0"/>
              <a:t> (Conv1D), </a:t>
            </a:r>
            <a:r>
              <a:rPr lang="en-US" dirty="0" err="1"/>
              <a:t>koja</a:t>
            </a:r>
            <a:r>
              <a:rPr lang="en-US" dirty="0"/>
              <a:t> </a:t>
            </a:r>
            <a:r>
              <a:rPr lang="en-US" dirty="0" err="1"/>
              <a:t>analizira</a:t>
            </a:r>
            <a:r>
              <a:rPr lang="en-US" dirty="0"/>
              <a:t> </a:t>
            </a:r>
            <a:r>
              <a:rPr lang="en-US" dirty="0" err="1"/>
              <a:t>vremenske</a:t>
            </a:r>
            <a:r>
              <a:rPr lang="en-US" dirty="0"/>
              <a:t> </a:t>
            </a:r>
            <a:r>
              <a:rPr lang="en-US" dirty="0" err="1"/>
              <a:t>obrasce</a:t>
            </a:r>
            <a:r>
              <a:rPr lang="en-US" dirty="0"/>
              <a:t> u </a:t>
            </a:r>
            <a:r>
              <a:rPr lang="en-US" dirty="0" err="1"/>
              <a:t>sekvencama</a:t>
            </a:r>
            <a:r>
              <a:rPr lang="en-US" dirty="0"/>
              <a:t> </a:t>
            </a:r>
            <a:r>
              <a:rPr lang="en-US" dirty="0" err="1"/>
              <a:t>podataka</a:t>
            </a:r>
            <a:r>
              <a:rPr lang="en-US" dirty="0"/>
              <a:t> </a:t>
            </a:r>
            <a:r>
              <a:rPr lang="en-US" dirty="0" err="1"/>
              <a:t>akcelerometra</a:t>
            </a:r>
            <a:r>
              <a:rPr lang="en-US" dirty="0"/>
              <a:t>.</a:t>
            </a:r>
            <a:endParaRPr lang="sr-Latn-RS" b="1" i="1" dirty="0"/>
          </a:p>
        </p:txBody>
      </p:sp>
    </p:spTree>
    <p:extLst>
      <p:ext uri="{BB962C8B-B14F-4D97-AF65-F5344CB8AC3E}">
        <p14:creationId xmlns:p14="http://schemas.microsoft.com/office/powerpoint/2010/main" val="23572536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19D56C-118C-6277-C747-7464B6997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Latn-RS" dirty="0"/>
              <a:t>Detekcija događaja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FBE345-7391-F644-DAFB-DD884269BF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just"/>
            <a:r>
              <a:rPr lang="en-US" dirty="0"/>
              <a:t>Servis </a:t>
            </a:r>
            <a:r>
              <a:rPr lang="en-US" b="1" dirty="0"/>
              <a:t>ml-service</a:t>
            </a:r>
            <a:r>
              <a:rPr lang="en-US" dirty="0"/>
              <a:t> </a:t>
            </a:r>
            <a:r>
              <a:rPr lang="en-US" dirty="0" err="1"/>
              <a:t>predstavlja</a:t>
            </a:r>
            <a:r>
              <a:rPr lang="en-US" dirty="0"/>
              <a:t> </a:t>
            </a:r>
            <a:r>
              <a:rPr lang="en-US" dirty="0" err="1"/>
              <a:t>komponentu</a:t>
            </a:r>
            <a:r>
              <a:rPr lang="en-US" dirty="0"/>
              <a:t> </a:t>
            </a:r>
            <a:r>
              <a:rPr lang="en-US" dirty="0" err="1"/>
              <a:t>zaduženu</a:t>
            </a:r>
            <a:r>
              <a:rPr lang="en-US" dirty="0"/>
              <a:t> za </a:t>
            </a:r>
            <a:r>
              <a:rPr lang="en-US" dirty="0" err="1"/>
              <a:t>detekciju</a:t>
            </a:r>
            <a:r>
              <a:rPr lang="en-US" dirty="0"/>
              <a:t> </a:t>
            </a:r>
            <a:r>
              <a:rPr lang="en-US" dirty="0" err="1"/>
              <a:t>događaja</a:t>
            </a:r>
            <a:r>
              <a:rPr lang="en-US" dirty="0"/>
              <a:t> </a:t>
            </a:r>
            <a:r>
              <a:rPr lang="en-US" dirty="0" err="1"/>
              <a:t>korišćenjem</a:t>
            </a:r>
            <a:r>
              <a:rPr lang="en-US" dirty="0"/>
              <a:t> </a:t>
            </a:r>
            <a:r>
              <a:rPr lang="sr-Latn-RS" dirty="0"/>
              <a:t>istreniranog ML </a:t>
            </a:r>
            <a:r>
              <a:rPr lang="en-US" dirty="0"/>
              <a:t>model</a:t>
            </a:r>
            <a:r>
              <a:rPr lang="sr-Latn-RS" dirty="0"/>
              <a:t>a</a:t>
            </a:r>
            <a:r>
              <a:rPr lang="en-US" dirty="0"/>
              <a:t>.</a:t>
            </a:r>
          </a:p>
          <a:p>
            <a:pPr algn="just"/>
            <a:r>
              <a:rPr lang="en-US" dirty="0"/>
              <a:t>Servis je </a:t>
            </a:r>
            <a:r>
              <a:rPr lang="en-US" dirty="0" err="1"/>
              <a:t>pretplaćen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MQTT topic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senzorskim</a:t>
            </a:r>
            <a:r>
              <a:rPr lang="en-US" dirty="0"/>
              <a:t> </a:t>
            </a:r>
            <a:r>
              <a:rPr lang="en-US" dirty="0" err="1"/>
              <a:t>podacima</a:t>
            </a:r>
            <a:r>
              <a:rPr lang="en-US" dirty="0"/>
              <a:t>, </a:t>
            </a:r>
            <a:r>
              <a:rPr lang="en-US" dirty="0" err="1"/>
              <a:t>formira</a:t>
            </a:r>
            <a:r>
              <a:rPr lang="en-US" dirty="0"/>
              <a:t> </a:t>
            </a:r>
            <a:r>
              <a:rPr lang="en-US" dirty="0" err="1"/>
              <a:t>ulazne</a:t>
            </a:r>
            <a:r>
              <a:rPr lang="en-US" dirty="0"/>
              <a:t> </a:t>
            </a:r>
            <a:r>
              <a:rPr lang="en-US" dirty="0" err="1"/>
              <a:t>prozore</a:t>
            </a:r>
            <a:r>
              <a:rPr lang="en-US" dirty="0"/>
              <a:t> </a:t>
            </a:r>
            <a:r>
              <a:rPr lang="en-US" dirty="0" err="1"/>
              <a:t>odgovarajuće</a:t>
            </a:r>
            <a:r>
              <a:rPr lang="en-US" dirty="0"/>
              <a:t> </a:t>
            </a:r>
            <a:r>
              <a:rPr lang="en-US" dirty="0" err="1"/>
              <a:t>veličine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izvršava</a:t>
            </a:r>
            <a:r>
              <a:rPr lang="en-US" dirty="0"/>
              <a:t> TensorFlow Lite model </a:t>
            </a:r>
            <a:r>
              <a:rPr lang="en-US" dirty="0" err="1"/>
              <a:t>na</a:t>
            </a:r>
            <a:r>
              <a:rPr lang="en-US" dirty="0"/>
              <a:t> Raspberry Pi </a:t>
            </a:r>
            <a:r>
              <a:rPr lang="en-US" dirty="0" err="1"/>
              <a:t>uređaju</a:t>
            </a:r>
            <a:r>
              <a:rPr lang="en-US" dirty="0"/>
              <a:t>. Na </a:t>
            </a:r>
            <a:r>
              <a:rPr lang="en-US" dirty="0" err="1"/>
              <a:t>osnovu</a:t>
            </a:r>
            <a:r>
              <a:rPr lang="en-US" dirty="0"/>
              <a:t> </a:t>
            </a:r>
            <a:r>
              <a:rPr lang="en-US" dirty="0" err="1"/>
              <a:t>rezultata</a:t>
            </a:r>
            <a:r>
              <a:rPr lang="en-US" dirty="0"/>
              <a:t> </a:t>
            </a:r>
            <a:r>
              <a:rPr lang="en-US" dirty="0" err="1"/>
              <a:t>klasifikacije</a:t>
            </a:r>
            <a:r>
              <a:rPr lang="en-US" dirty="0"/>
              <a:t> </a:t>
            </a:r>
            <a:r>
              <a:rPr lang="en-US" dirty="0" err="1"/>
              <a:t>servis</a:t>
            </a:r>
            <a:r>
              <a:rPr lang="en-US" dirty="0"/>
              <a:t> </a:t>
            </a:r>
            <a:r>
              <a:rPr lang="en-US" dirty="0" err="1"/>
              <a:t>određuje</a:t>
            </a:r>
            <a:r>
              <a:rPr lang="en-US" dirty="0"/>
              <a:t> da li je </a:t>
            </a:r>
            <a:r>
              <a:rPr lang="en-US" dirty="0" err="1"/>
              <a:t>detektovan</a:t>
            </a:r>
            <a:r>
              <a:rPr lang="en-US" dirty="0"/>
              <a:t> </a:t>
            </a:r>
            <a:r>
              <a:rPr lang="en-US" dirty="0" err="1"/>
              <a:t>događaj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u tom </a:t>
            </a:r>
            <a:r>
              <a:rPr lang="en-US" dirty="0" err="1"/>
              <a:t>slučaju</a:t>
            </a:r>
            <a:r>
              <a:rPr lang="en-US" dirty="0"/>
              <a:t> </a:t>
            </a:r>
            <a:r>
              <a:rPr lang="en-US" dirty="0" err="1"/>
              <a:t>objavljuje</a:t>
            </a:r>
            <a:r>
              <a:rPr lang="en-US" dirty="0"/>
              <a:t> </a:t>
            </a:r>
            <a:r>
              <a:rPr lang="en-US" dirty="0" err="1"/>
              <a:t>odgovarajuću</a:t>
            </a:r>
            <a:r>
              <a:rPr lang="en-US" dirty="0"/>
              <a:t> </a:t>
            </a:r>
            <a:r>
              <a:rPr lang="en-US" dirty="0" err="1"/>
              <a:t>komandu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MQTT broker.</a:t>
            </a:r>
            <a:r>
              <a:rPr lang="sr-Latn-RS" dirty="0"/>
              <a:t> Ukoliko je detektovano pomeranje </a:t>
            </a:r>
            <a:r>
              <a:rPr lang="sr-Latn-RS" dirty="0" err="1"/>
              <a:t>Arduina</a:t>
            </a:r>
            <a:r>
              <a:rPr lang="sr-Latn-RS" dirty="0"/>
              <a:t> pali se zelena LED.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7624475"/>
      </p:ext>
    </p:extLst>
  </p:cSld>
  <p:clrMapOvr>
    <a:masterClrMapping/>
  </p:clrMapOvr>
</p:sld>
</file>

<file path=ppt/theme/theme1.xml><?xml version="1.0" encoding="utf-8"?>
<a:theme xmlns:a="http://schemas.openxmlformats.org/drawingml/2006/main" name="Frame">
  <a:themeElements>
    <a:clrScheme name="Frame">
      <a:dk1>
        <a:srgbClr val="000000"/>
      </a:dk1>
      <a:lt1>
        <a:srgbClr val="FFFFFF"/>
      </a:lt1>
      <a:dk2>
        <a:srgbClr val="545454"/>
      </a:dk2>
      <a:lt2>
        <a:srgbClr val="BFBFBF"/>
      </a:lt2>
      <a:accent1>
        <a:srgbClr val="40BAD2"/>
      </a:accent1>
      <a:accent2>
        <a:srgbClr val="FAB900"/>
      </a:accent2>
      <a:accent3>
        <a:srgbClr val="90BB23"/>
      </a:accent3>
      <a:accent4>
        <a:srgbClr val="EE7008"/>
      </a:accent4>
      <a:accent5>
        <a:srgbClr val="1AB39F"/>
      </a:accent5>
      <a:accent6>
        <a:srgbClr val="D5393D"/>
      </a:accent6>
      <a:hlink>
        <a:srgbClr val="90BB23"/>
      </a:hlink>
      <a:folHlink>
        <a:srgbClr val="EE7008"/>
      </a:folHlink>
    </a:clrScheme>
    <a:fontScheme name="Frame">
      <a:maj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Fram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20000"/>
                <a:lumMod val="102000"/>
              </a:schemeClr>
            </a:gs>
            <a:gs pos="48000">
              <a:schemeClr val="phClr">
                <a:tint val="98000"/>
                <a:shade val="90000"/>
                <a:satMod val="110000"/>
                <a:lumMod val="103000"/>
              </a:schemeClr>
            </a:gs>
            <a:gs pos="100000">
              <a:schemeClr val="phClr">
                <a:tint val="98000"/>
                <a:shade val="80000"/>
                <a:satMod val="10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rame" id="{F226E7A2-7162-461C-9490-D27D9DC04E43}" vid="{629A0216-3BBD-45C0-B63F-2683BEA18F6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TM03457475[[fn=Frame]]</Template>
  <TotalTime>2073</TotalTime>
  <Words>526</Words>
  <Application>Microsoft Office PowerPoint</Application>
  <PresentationFormat>Widescreen</PresentationFormat>
  <Paragraphs>48</Paragraphs>
  <Slides>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Calibri</vt:lpstr>
      <vt:lpstr>Corbel</vt:lpstr>
      <vt:lpstr>Wingdings 2</vt:lpstr>
      <vt:lpstr>Frame</vt:lpstr>
      <vt:lpstr>Sveprisutno računarstvo</vt:lpstr>
      <vt:lpstr>Projekat 2</vt:lpstr>
      <vt:lpstr>Korišćene tehnologije</vt:lpstr>
      <vt:lpstr>Korišćene tehnologije</vt:lpstr>
      <vt:lpstr>Cilj projekta</vt:lpstr>
      <vt:lpstr>Prikupljanje podataka</vt:lpstr>
      <vt:lpstr>Skladištenje podataka</vt:lpstr>
      <vt:lpstr>Treniranje modela</vt:lpstr>
      <vt:lpstr>Detekcija događaja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Anja Tonsa Milovanović</dc:creator>
  <cp:lastModifiedBy>Anja Tonsa Milovanović</cp:lastModifiedBy>
  <cp:revision>26</cp:revision>
  <dcterms:created xsi:type="dcterms:W3CDTF">2026-08-21T12:20:22Z</dcterms:created>
  <dcterms:modified xsi:type="dcterms:W3CDTF">2026-08-29T09:33:16Z</dcterms:modified>
</cp:coreProperties>
</file>